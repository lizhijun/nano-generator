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5137" y="1279624"/>
            <a:ext cx="49735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开源大模型私有化训练方案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742996" y="2041624"/>
            <a:ext cx="165785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深度对比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21052" y="2930575"/>
            <a:ext cx="290174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LoRA 到蒸馏的技术选型指南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97489" y="3616226"/>
            <a:ext cx="234887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NanoBananaPro 项目实践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1101626"/>
            <a:ext cx="4064050" cy="154974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背景与挑战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六种私有化方案概览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原理深度解析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方法族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98950" y="1101626"/>
            <a:ext cx="4064050" cy="154974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指令微调与 SFT+RLHF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检索增强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方案对比与选择</a:t>
            </a:r>
            <a:endParaRPr lang="en-US" sz="1400" dirty="0"/>
          </a:p>
          <a:p>
            <a:pPr algn="l" marL="114300" indent="-114300">
              <a:lnSpc>
                <a:spcPts val="196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实践案例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六种私有化训练方案概览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1101626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54026"/>
            <a:ext cx="2526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微调 Fine-tuning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7787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 / LoRA / PEFT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90900" y="1101626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81400" y="1254026"/>
            <a:ext cx="2526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指令微调 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81400" y="157787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→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2092226"/>
            <a:ext cx="2857500" cy="800100"/>
          </a:xfrm>
          <a:prstGeom prst="roundRect">
            <a:avLst>
              <a:gd name="adj" fmla="val 9524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24462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SFT + RLHF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53037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监督微调 + 强化学习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90900" y="2092226"/>
            <a:ext cx="2857500" cy="800100"/>
          </a:xfrm>
          <a:prstGeom prst="roundRect">
            <a:avLst>
              <a:gd name="adj" fmla="val 9524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81400" y="224462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Prompt Tuning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1400" y="253037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只改输入 embedding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000" y="3044726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197126"/>
            <a:ext cx="2526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RAG 检索增强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" y="352097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外部知识库检索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90900" y="3044726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81400" y="3197126"/>
            <a:ext cx="2526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混合方案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81400" y="3520976"/>
            <a:ext cx="2526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LoRA 组合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574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1389" y="2657475"/>
            <a:ext cx="36610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 Full Fine-tuning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 Full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31875"/>
            <a:ext cx="414533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对预训练模型</a:t>
            </a:r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所有参数</a:t>
            </a:r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进行更新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869877"/>
            <a:ext cx="4064050" cy="857250"/>
          </a:xfrm>
          <a:prstGeom prst="roundRect">
            <a:avLst>
              <a:gd name="adj" fmla="val 5926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22277"/>
            <a:ext cx="3834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θ' = θ - η∇L(θ)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400" y="2365177"/>
            <a:ext cx="3834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更新全部 θ 参数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950" y="1038225"/>
            <a:ext cx="4064050" cy="1309092"/>
          </a:xfrm>
          <a:prstGeom prst="roundRect">
            <a:avLst>
              <a:gd name="adj" fmla="val 5821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9450" y="1228725"/>
            <a:ext cx="37567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89450" y="1577876"/>
            <a:ext cx="3683050" cy="5027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能力上限最高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对数据适应性最好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950" y="2499717"/>
            <a:ext cx="4064050" cy="1309092"/>
          </a:xfrm>
          <a:prstGeom prst="roundRect">
            <a:avLst>
              <a:gd name="adj" fmla="val 5821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89450" y="2690217"/>
            <a:ext cx="37567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9450" y="3039368"/>
            <a:ext cx="3683050" cy="5027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 需 60GB+ 显存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训练时间长、成本高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全量微调显存分析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显存占用构成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57325"/>
            <a:ext cx="4064050" cy="115252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模型参数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7B × 2B = 14GB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梯度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14GB (同规模)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优化器状态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28GB (Adam)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激活值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约 8-16GB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98950" y="1038225"/>
            <a:ext cx="4064050" cy="1638002"/>
          </a:xfrm>
          <a:prstGeom prst="roundRect">
            <a:avLst>
              <a:gd name="adj" fmla="val 3101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2620" y="1228725"/>
            <a:ext cx="3756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 模型全量微调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52620" y="1622375"/>
            <a:ext cx="3756711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~64GB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52620" y="2257127"/>
            <a:ext cx="3756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 A100 80GB 或多卡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574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87391" y="2657475"/>
            <a:ext cx="2769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原理深度解析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Low-Rank Adaptation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20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381125"/>
            <a:ext cx="414533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权重更新矩阵可分解为两个</a:t>
            </a:r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低秩矩阵</a:t>
            </a:r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的乘积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781026"/>
            <a:ext cx="4064050" cy="609451"/>
          </a:xfrm>
          <a:prstGeom prst="roundRect">
            <a:avLst>
              <a:gd name="adj" fmla="val 8335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808" y="1933426"/>
            <a:ext cx="383443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W' = W + BA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542877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W: d×k 原始权重 (冻结)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771477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d×r, A: r×k (r &lt;&lt; min(d,k))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962025"/>
            <a:ext cx="4064050" cy="2393007"/>
          </a:xfrm>
          <a:prstGeom prst="roundRect">
            <a:avLst>
              <a:gd name="adj" fmla="val 3184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89450" y="1152525"/>
            <a:ext cx="37567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参数量对比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89450" y="1527125"/>
            <a:ext cx="375671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全量: d × k = 4096 × 4096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9450" y="1876127"/>
            <a:ext cx="3756711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16.7M 参数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89450" y="2396579"/>
            <a:ext cx="375671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LoRA(r=8): (d+k) × 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9450" y="2745581"/>
            <a:ext cx="3756711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65K 参数 (0.4%)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数学原理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064050" cy="977503"/>
          </a:xfrm>
          <a:prstGeom prst="roundRect">
            <a:avLst>
              <a:gd name="adj" fmla="val 5197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28725"/>
            <a:ext cx="375671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Wx + BAx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1500" y="1577727"/>
            <a:ext cx="375671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Wx + (α/r)BAx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2206228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初始化策略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580829"/>
            <a:ext cx="4064050" cy="79221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高斯随机初始化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零初始化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确保初始 ΔW = BA =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038225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为什么有效?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98950" y="14128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预训练模型已有强表征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任务适配只需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小调整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权重更新具有低秩特性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Aghajanyan 2020 实验验证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关键超参数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1952625" cy="1435001"/>
          </a:xfrm>
          <a:prstGeom prst="roundRect">
            <a:avLst>
              <a:gd name="adj" fmla="val 5310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(r)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39776"/>
            <a:ext cx="1603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低秩维度，控制表达能力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20731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推荐: 8 / 16 / 32 / 64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24125" y="1038225"/>
            <a:ext cx="1952625" cy="1435001"/>
          </a:xfrm>
          <a:prstGeom prst="roundRect">
            <a:avLst>
              <a:gd name="adj" fmla="val 5310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4625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(α)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14625" y="1539776"/>
            <a:ext cx="160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缩放因子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14625" y="18445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推荐: 通常设为 2×r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7250" y="1038225"/>
            <a:ext cx="1952625" cy="1435001"/>
          </a:xfrm>
          <a:prstGeom prst="roundRect">
            <a:avLst>
              <a:gd name="adj" fmla="val 5310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0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57750" y="1539776"/>
            <a:ext cx="160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7750" y="18445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推荐: 0.05 ~ 0.1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0375" y="1038225"/>
            <a:ext cx="1952625" cy="1435001"/>
          </a:xfrm>
          <a:prstGeom prst="roundRect">
            <a:avLst>
              <a:gd name="adj" fmla="val 5310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0875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target_modules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00875" y="1539776"/>
            <a:ext cx="160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00875" y="18445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q/k/v/o_proj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方法族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1952625" cy="1168152"/>
          </a:xfrm>
          <a:prstGeom prst="roundRect">
            <a:avLst>
              <a:gd name="adj" fmla="val 6523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397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低秩矩阵分解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1500" y="1825526"/>
            <a:ext cx="160305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通用性最好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24125" y="1038225"/>
            <a:ext cx="1952625" cy="1168152"/>
          </a:xfrm>
          <a:prstGeom prst="roundRect">
            <a:avLst>
              <a:gd name="adj" fmla="val 6523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4625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14625" y="15397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量化 + LoRA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14625" y="1825526"/>
            <a:ext cx="160305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显存最低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7250" y="1038225"/>
            <a:ext cx="1952625" cy="1168152"/>
          </a:xfrm>
          <a:prstGeom prst="roundRect">
            <a:avLst>
              <a:gd name="adj" fmla="val 6523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0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57750" y="15397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层间插入模块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7750" y="1825526"/>
            <a:ext cx="160305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有推理开销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0375" y="1038225"/>
            <a:ext cx="1952625" cy="1168152"/>
          </a:xfrm>
          <a:prstGeom prst="roundRect">
            <a:avLst>
              <a:gd name="adj" fmla="val 6523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0875" y="1228725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00875" y="1539776"/>
            <a:ext cx="16030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激活值缩放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00875" y="1825526"/>
            <a:ext cx="160305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参数最少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2434977"/>
            <a:ext cx="8382000" cy="552301"/>
          </a:xfrm>
          <a:prstGeom prst="roundRect">
            <a:avLst>
              <a:gd name="adj" fmla="val 9198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628" y="2587377"/>
            <a:ext cx="823874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4-bit NF4量化 + LoRA + 双重量化 + 分页优化器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574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952701" y="2657475"/>
            <a:ext cx="32384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指令微调与 SFT+RLHF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指令微调 Instruction 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57325"/>
            <a:ext cx="414533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(指令, 输出) 对训练，让模型理解</a:t>
            </a:r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任务意图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895326"/>
            <a:ext cx="4064050" cy="1143000"/>
          </a:xfrm>
          <a:prstGeom prst="roundRect">
            <a:avLst>
              <a:gd name="adj" fmla="val 4444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47726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指令: 将以下英文翻译成中文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352526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Hello World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2657326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你好世界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98950" y="14573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零样本泛化能力强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多任务统一格式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数据构造相对简单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LoRA 完美结合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6661" y="2095500"/>
            <a:ext cx="13105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86827" y="2695575"/>
            <a:ext cx="177034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+ RLHF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+ RLHF 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2667000" cy="1168152"/>
          </a:xfrm>
          <a:prstGeom prst="roundRect">
            <a:avLst>
              <a:gd name="adj" fmla="val 6523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28725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39776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监督微调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1500" y="1825526"/>
            <a:ext cx="233172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高质量示例训练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38500" y="1038225"/>
            <a:ext cx="2667000" cy="1168152"/>
          </a:xfrm>
          <a:prstGeom prst="roundRect">
            <a:avLst>
              <a:gd name="adj" fmla="val 6523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0" y="1228725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539776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825526"/>
            <a:ext cx="233172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人类偏好学习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6000" y="1038225"/>
            <a:ext cx="2667000" cy="1168152"/>
          </a:xfrm>
          <a:prstGeom prst="roundRect">
            <a:avLst>
              <a:gd name="adj" fmla="val 6523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0" y="1228725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PPO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86500" y="1539776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强化学习优化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86500" y="1825526"/>
            <a:ext cx="233172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最大化奖励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000" y="2396877"/>
            <a:ext cx="8382000" cy="533400"/>
          </a:xfrm>
          <a:prstGeom prst="roundRect">
            <a:avLst>
              <a:gd name="adj" fmla="val 9524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2628" y="2549277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替代方案: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(Direct Preference Optimization) - 无需奖励模型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的挑战与方案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573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标注成本高昂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训练不稳定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奖励模型偏差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需要4个模型同时运行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9895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简化方案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98950" y="1457325"/>
            <a:ext cx="4064050" cy="79221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直接偏好优化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ORPO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无需参考模型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SimPO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更简单的优化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955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8249" y="2695575"/>
            <a:ext cx="21873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 原理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57325"/>
            <a:ext cx="414533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冻结模型，只学习输入前的</a:t>
            </a:r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软提示向量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895326"/>
            <a:ext cx="4064050" cy="819150"/>
          </a:xfrm>
          <a:prstGeom prst="roundRect">
            <a:avLst>
              <a:gd name="adj" fmla="val 6202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47726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[P1][P2]...[Pn] + input tokens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352526"/>
            <a:ext cx="3834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是可学习的 embedding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95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8950" y="14573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参数量极少 (几千个)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模型完全冻结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多任务可共享基座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效果随规模提升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574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50692" y="2657475"/>
            <a:ext cx="26426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检索增强生成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57325"/>
            <a:ext cx="4064050" cy="137115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用户查询向量化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向量库相似检索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文档召回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拼接 context + query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生成回答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9895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98950" y="14573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无需训练模型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知识实时更新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可溯源、可解释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降低幻觉风险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微调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064050" cy="1861691"/>
          </a:xfrm>
          <a:prstGeom prst="roundRect">
            <a:avLst>
              <a:gd name="adj" fmla="val 4093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28725"/>
            <a:ext cx="3756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适合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622375"/>
            <a:ext cx="3683050" cy="10108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知识频繁更新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需要可溯源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事实性问答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快速上线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98950" y="1038225"/>
            <a:ext cx="4064050" cy="1861691"/>
          </a:xfrm>
          <a:prstGeom prst="roundRect">
            <a:avLst>
              <a:gd name="adj" fmla="val 4093"/>
            </a:avLst>
          </a:prstGeom>
          <a:solidFill>
            <a:srgbClr val="1F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89450" y="1228725"/>
            <a:ext cx="3756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微调适合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89450" y="1622375"/>
            <a:ext cx="3683050" cy="10108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风格/语气定制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特殊输出格式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推理能力增强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专业领域深度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574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83864" y="2657475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方案对比与选择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6527" y="2047875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535933" y="2743200"/>
            <a:ext cx="2072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六种方案核心指标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方案对比表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" y="962025"/>
            <a:ext cx="8382000" cy="2079427"/>
          </a:xfrm>
          <a:prstGeom prst="roundRect">
            <a:avLst>
              <a:gd name="adj" fmla="val 3664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3400" y="1430238"/>
            <a:ext cx="80772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114425"/>
            <a:ext cx="2353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41129" y="1114425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64286" y="1114425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87443" y="1114425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3400" y="1536502"/>
            <a:ext cx="2353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全量微调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41129" y="15365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4286" y="15365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87443" y="15365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3400" y="1822252"/>
            <a:ext cx="2353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41129" y="182225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0.1-1%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64286" y="182225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87443" y="182225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接近全量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400" y="2108002"/>
            <a:ext cx="2353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41129" y="21080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0.1-1%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286" y="21080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87443" y="21080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略低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00" y="2393752"/>
            <a:ext cx="2353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41129" y="239375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4286" y="239375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87443" y="239375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400" y="2679502"/>
            <a:ext cx="2353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41129" y="26795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4286" y="26795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87443" y="2679502"/>
            <a:ext cx="19616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依场景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方案选择决策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190625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数据量大 + 预算充足?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400" y="1476375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+ LoRA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984325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136725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数据量小 + 快速上线?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2422475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指令微调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2930426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3082826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显存受限?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3400" y="3368576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7250" y="1038225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1190625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知识需实时更新?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9650" y="1476375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250" y="1984325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9650" y="2136725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需要高质量输出?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9650" y="2422475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RLHF/DPO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7250" y="2930426"/>
            <a:ext cx="4095750" cy="819150"/>
          </a:xfrm>
          <a:prstGeom prst="roundRect">
            <a:avLst>
              <a:gd name="adj" fmla="val 9302"/>
            </a:avLst>
          </a:prstGeom>
          <a:solidFill>
            <a:srgbClr val="1E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9650" y="3082826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多任务切换?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9650" y="3368576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多适配器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实践案例: NanoBananaPro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573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微调 Qwen2.5-3B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图像生成提示词任务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6000+ 训练样本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 GPU 训练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98950" y="10382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98950" y="1457325"/>
            <a:ext cx="4064050" cy="10816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unsloth 加速框架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r=16, alpha=16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量化推理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前端部署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训练配置示例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8382000" cy="2057400"/>
          </a:xfrm>
          <a:prstGeom prst="roundRect">
            <a:avLst>
              <a:gd name="adj" fmla="val 2469"/>
            </a:avLst>
          </a:prstGeom>
          <a:solidFill>
            <a:srgbClr val="0D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28725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FastLanguageModel.get_peft_model(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438275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model,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1647825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857375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lora_alpha=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2066925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lora_dropout=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2000" y="2276475"/>
            <a:ext cx="7966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target_modules=[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"q_proj", "k_proj",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2500" y="2486025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"v_proj", "o_proj"],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" y="2695575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858" y="2057400"/>
            <a:ext cx="10081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794760" y="2657475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38225"/>
            <a:ext cx="4064050" cy="9977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是性价比最高的微调方案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适合资源受限场景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适合知识密集型应用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98950" y="1038225"/>
            <a:ext cx="4064050" cy="9977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指令微调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提升任务理解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RLHF/DPO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保证输出质量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混合方案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往往是最佳选择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587" y="1719263"/>
            <a:ext cx="234067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05656" y="2560588"/>
            <a:ext cx="932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谢谢聆听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14720" y="3157389"/>
            <a:ext cx="1914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开源大模型私有化训练方案深度对比</dc:title>
  <dc:subject>LoRA微调与模型优化方案对比</dc:subject>
  <dc:creator>NanoBananaPro Team</dc:creator>
  <cp:lastModifiedBy>NanoBananaPro Team</cp:lastModifiedBy>
  <cp:revision>1</cp:revision>
  <dcterms:created xsi:type="dcterms:W3CDTF">2026-01-13T13:55:03Z</dcterms:created>
  <dcterms:modified xsi:type="dcterms:W3CDTF">2026-01-13T13:55:03Z</dcterms:modified>
</cp:coreProperties>
</file>